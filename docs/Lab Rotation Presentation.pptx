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8" r:id="rId2"/>
    <p:sldId id="259" r:id="rId3"/>
    <p:sldId id="262" r:id="rId4"/>
    <p:sldId id="263" r:id="rId5"/>
    <p:sldId id="265" r:id="rId6"/>
    <p:sldId id="266" r:id="rId7"/>
    <p:sldId id="264" r:id="rId8"/>
    <p:sldId id="267" r:id="rId9"/>
    <p:sldId id="270" r:id="rId10"/>
    <p:sldId id="272" r:id="rId11"/>
    <p:sldId id="275" r:id="rId12"/>
    <p:sldId id="281" r:id="rId13"/>
    <p:sldId id="280" r:id="rId14"/>
    <p:sldId id="273" r:id="rId15"/>
    <p:sldId id="277" r:id="rId16"/>
    <p:sldId id="278" r:id="rId17"/>
    <p:sldId id="279" r:id="rId18"/>
    <p:sldId id="276" r:id="rId19"/>
    <p:sldId id="274" r:id="rId20"/>
    <p:sldId id="26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FC5F6D8-57B1-4A29-9B2E-563773377EC3}">
          <p14:sldIdLst>
            <p14:sldId id="258"/>
            <p14:sldId id="259"/>
            <p14:sldId id="262"/>
            <p14:sldId id="263"/>
            <p14:sldId id="265"/>
            <p14:sldId id="266"/>
            <p14:sldId id="264"/>
            <p14:sldId id="267"/>
            <p14:sldId id="270"/>
            <p14:sldId id="272"/>
            <p14:sldId id="275"/>
            <p14:sldId id="281"/>
            <p14:sldId id="280"/>
            <p14:sldId id="273"/>
            <p14:sldId id="277"/>
            <p14:sldId id="278"/>
            <p14:sldId id="279"/>
            <p14:sldId id="276"/>
            <p14:sldId id="274"/>
            <p14:sldId id="26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60A5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84906" autoAdjust="0"/>
  </p:normalViewPr>
  <p:slideViewPr>
    <p:cSldViewPr snapToGrid="0">
      <p:cViewPr varScale="1">
        <p:scale>
          <a:sx n="58" d="100"/>
          <a:sy n="58" d="100"/>
        </p:scale>
        <p:origin x="56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7BF19-6ABB-47FB-BD18-989CB82DD50A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F043AF-D60D-425B-B312-DC2FEEC9DB5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9268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8461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slowly orient ourselves, we are in realm of sensorimotor transformations.</a:t>
            </a:r>
          </a:p>
          <a:p>
            <a:r>
              <a:rPr lang="en-GB" dirty="0"/>
              <a:t>An animal has to continuously perceive, make decisions and act all in parallel.</a:t>
            </a:r>
          </a:p>
          <a:p>
            <a:r>
              <a:rPr lang="en-GB" dirty="0"/>
              <a:t>Multiple goals and motivations compete to give us a final action outcome.</a:t>
            </a:r>
          </a:p>
          <a:p>
            <a:r>
              <a:rPr lang="en-GB" dirty="0"/>
              <a:t>Our language of course hides the complexity of these processes in terms of neural circuitry.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85419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we start by looking at some of the brain regions associated with these processes.</a:t>
            </a:r>
          </a:p>
          <a:p>
            <a:r>
              <a:rPr lang="en-GB" dirty="0"/>
              <a:t>Here we have the dorsal pathway that is thought to localize things in the visual space. Where things are in relation to our body.</a:t>
            </a:r>
          </a:p>
          <a:p>
            <a:r>
              <a:rPr lang="en-GB" dirty="0"/>
              <a:t>On the right, we have the these motor regions that have to compute and implement action trajectories.</a:t>
            </a:r>
          </a:p>
          <a:p>
            <a:r>
              <a:rPr lang="en-GB" dirty="0"/>
              <a:t>Frontal eye fields are related to saccades and the motor cortex for reaches.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8270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does the Pulvinar come in?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the largest nucleus within the primate thalamus. With many subregions, it connects to different parts of the cortex.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has been related to spatial attention and coordinating visual networks, but we are still not sure what is its function in those networks</a:t>
            </a:r>
          </a:p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heavily connected to the regions implicated in saccades and reaches. This makes it a very relevant region to study. To understand what it could be doing and what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8469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the experiments,</a:t>
            </a:r>
          </a:p>
          <a:p>
            <a:r>
              <a:rPr lang="en-GB" dirty="0"/>
              <a:t>The monkey sits in front of a screen, and has to both fixate with the eyes at the centre and also put one of the hand there.</a:t>
            </a:r>
          </a:p>
          <a:p>
            <a:r>
              <a:rPr lang="en-GB" dirty="0"/>
              <a:t>When the fixation is present for some time, the CUE comes in. The </a:t>
            </a:r>
            <a:r>
              <a:rPr lang="en-GB" dirty="0" err="1"/>
              <a:t>color</a:t>
            </a:r>
            <a:r>
              <a:rPr lang="en-GB" dirty="0"/>
              <a:t> tells the monkey what to use, the hands or eyes to reach the target.</a:t>
            </a:r>
          </a:p>
          <a:p>
            <a:r>
              <a:rPr lang="en-GB" dirty="0"/>
              <a:t>The target is present in the peripheral space.</a:t>
            </a:r>
          </a:p>
          <a:p>
            <a:r>
              <a:rPr lang="en-GB" dirty="0"/>
              <a:t>After a delay period of 1.3 seconds, the central dot vanishes which is the GO signal for the movement.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Either the arm or the eyes move, not both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2401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We got the data from two monkeys. Only one of them is shown having 200 units and lots of trials.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We converted spikes to firing rates and we only analyse those in a certain window around the CUE signal.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This is what you’ll see later in the plots.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Next we do a commonly employed </a:t>
            </a:r>
            <a:r>
              <a:rPr lang="en-GB" b="1" dirty="0"/>
              <a:t>square root transformation </a:t>
            </a:r>
            <a:r>
              <a:rPr lang="en-GB" dirty="0"/>
              <a:t>of firing rates.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But we still face a problem for analysis called </a:t>
            </a:r>
            <a:r>
              <a:rPr lang="en-GB" b="1" dirty="0"/>
              <a:t>mixed selectivity</a:t>
            </a:r>
            <a:r>
              <a:rPr lang="en-GB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582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What does that mean? A neuron shows mixed selectivity if it responds to multiple </a:t>
            </a:r>
            <a:r>
              <a:rPr lang="en-GB" b="1" dirty="0"/>
              <a:t>task variables</a:t>
            </a:r>
            <a:r>
              <a:rPr lang="en-GB" dirty="0"/>
              <a:t>.</a:t>
            </a:r>
          </a:p>
          <a:p>
            <a:r>
              <a:rPr lang="en-GB" dirty="0"/>
              <a:t>That means it is very difficult to assign a clean meaning to these neurons like we do in V1 with oriented bars.</a:t>
            </a:r>
          </a:p>
          <a:p>
            <a:r>
              <a:rPr lang="en-GB" dirty="0"/>
              <a:t>Another problem we face is of very high trial-to-trial variability for the same task.</a:t>
            </a:r>
          </a:p>
          <a:p>
            <a:r>
              <a:rPr lang="en-GB" dirty="0"/>
              <a:t>To overcome these, researchers do population level analysis.</a:t>
            </a:r>
            <a:br>
              <a:rPr lang="en-GB" dirty="0"/>
            </a:br>
            <a:r>
              <a:rPr lang="en-GB" dirty="0"/>
              <a:t>There are certain advantages to this we can discuss later.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62994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So here we try to predict the task variables from the activity of all units and for this we use logistic regression.</a:t>
            </a:r>
          </a:p>
          <a:p>
            <a:r>
              <a:rPr lang="en-GB" dirty="0"/>
              <a:t>We model it at each time point and try to predict these variables at every time point.</a:t>
            </a:r>
          </a:p>
          <a:p>
            <a:r>
              <a:rPr lang="en-GB" dirty="0"/>
              <a:t>This gives us what is called a Temporal Generalization Matrix.</a:t>
            </a:r>
          </a:p>
          <a:p>
            <a:r>
              <a:rPr lang="en-GB" dirty="0"/>
              <a:t>As an example, here we try to predict the target location, whether left or right.</a:t>
            </a:r>
          </a:p>
          <a:p>
            <a:r>
              <a:rPr lang="en-GB" dirty="0"/>
              <a:t>So we train the model right after the cue, it is very good, but it is not generalizable to other test times.</a:t>
            </a:r>
          </a:p>
          <a:p>
            <a:r>
              <a:rPr lang="en-GB" dirty="0"/>
              <a:t>This gives us somewhat clean areas to designate as cue, planning and execution that we in the next step.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3537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we look at the inverse, which is encoding using TDR. It is about how task variables are represented in the neural activity.</a:t>
            </a:r>
          </a:p>
          <a:p>
            <a:r>
              <a:rPr lang="en-GB" dirty="0"/>
              <a:t>Which lives in a </a:t>
            </a:r>
            <a:r>
              <a:rPr lang="en-GB" b="1" dirty="0"/>
              <a:t>high-dimensional state space </a:t>
            </a:r>
            <a:r>
              <a:rPr lang="en-GB" b="0" dirty="0"/>
              <a:t>where</a:t>
            </a:r>
            <a:r>
              <a:rPr lang="en-GB" b="1" dirty="0"/>
              <a:t> </a:t>
            </a:r>
            <a:r>
              <a:rPr lang="en-GB" b="0" dirty="0"/>
              <a:t>e</a:t>
            </a:r>
            <a:r>
              <a:rPr lang="en-GB" dirty="0"/>
              <a:t>ach axis represent one neuron’s </a:t>
            </a:r>
            <a:r>
              <a:rPr lang="en-GB" b="1" dirty="0"/>
              <a:t>firing rate</a:t>
            </a:r>
          </a:p>
          <a:p>
            <a:r>
              <a:rPr lang="en-GB" b="0" dirty="0"/>
              <a:t>We predict the neural activity for each unit using the task variables.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We put the </a:t>
            </a:r>
            <a:r>
              <a:rPr lang="en-GB" b="1" dirty="0"/>
              <a:t>Beta values into a vector</a:t>
            </a:r>
            <a:r>
              <a:rPr lang="en-GB" b="0" dirty="0"/>
              <a:t> and that </a:t>
            </a:r>
            <a:r>
              <a:rPr lang="en-GB" dirty="0"/>
              <a:t>gives the direction for that variable.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We can get the TDR axis for each for our task variables and we orthogonalize them.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Then in the final step, we project the trajectories onto these axes.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dirty="0"/>
          </a:p>
          <a:p>
            <a:endParaRPr lang="en-GB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34744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But first, we need to properly define our regressors.</a:t>
            </a:r>
          </a:p>
          <a:p>
            <a:r>
              <a:rPr lang="en-GB" dirty="0"/>
              <a:t>We use </a:t>
            </a:r>
            <a:r>
              <a:rPr lang="en-GB" b="1" dirty="0"/>
              <a:t>4 event-related Regressors</a:t>
            </a:r>
            <a:r>
              <a:rPr lang="en-GB" b="0" dirty="0"/>
              <a:t> that </a:t>
            </a:r>
            <a:r>
              <a:rPr lang="en-GB" dirty="0"/>
              <a:t>capture activity not specific to a condition, just as control variables</a:t>
            </a:r>
          </a:p>
          <a:p>
            <a:r>
              <a:rPr lang="en-GB" dirty="0"/>
              <a:t>We use a </a:t>
            </a:r>
            <a:r>
              <a:rPr lang="en-GB" b="1" dirty="0"/>
              <a:t>hand</a:t>
            </a:r>
            <a:r>
              <a:rPr lang="en-GB" dirty="0"/>
              <a:t> regressor</a:t>
            </a:r>
          </a:p>
          <a:p>
            <a:r>
              <a:rPr lang="en-GB" dirty="0"/>
              <a:t>We use 2 </a:t>
            </a:r>
            <a:r>
              <a:rPr lang="en-GB" b="1" dirty="0"/>
              <a:t>space</a:t>
            </a:r>
            <a:r>
              <a:rPr lang="en-GB" dirty="0"/>
              <a:t> regressors for horizontal and vertical</a:t>
            </a:r>
          </a:p>
          <a:p>
            <a:r>
              <a:rPr lang="en-GB" dirty="0"/>
              <a:t>We use 3 </a:t>
            </a:r>
            <a:r>
              <a:rPr lang="en-GB" b="1" dirty="0"/>
              <a:t>effectors</a:t>
            </a:r>
            <a:r>
              <a:rPr lang="en-GB" dirty="0"/>
              <a:t>, Saccade, Contralateral Hand, Ipsilateral Hand which are made specific to horizontal or vertical space</a:t>
            </a:r>
          </a:p>
          <a:p>
            <a:r>
              <a:rPr lang="en-GB" dirty="0"/>
              <a:t>We also do </a:t>
            </a:r>
            <a:r>
              <a:rPr lang="en-GB" b="1" dirty="0"/>
              <a:t>temporal modulation </a:t>
            </a:r>
            <a:r>
              <a:rPr lang="en-GB" dirty="0"/>
              <a:t>where the space variables are made active only during CUE, </a:t>
            </a:r>
          </a:p>
          <a:p>
            <a:r>
              <a:rPr lang="en-GB" dirty="0"/>
              <a:t>while </a:t>
            </a:r>
            <a:r>
              <a:rPr lang="en-GB" b="1" dirty="0"/>
              <a:t>the effectors are made active </a:t>
            </a:r>
            <a:r>
              <a:rPr lang="en-GB" dirty="0"/>
              <a:t>during both planning and movement</a:t>
            </a:r>
            <a:br>
              <a:rPr lang="en-GB" dirty="0"/>
            </a:br>
            <a:r>
              <a:rPr lang="en-GB" dirty="0"/>
              <a:t>So to sum up, for each of these regressors, we will get one axis in </a:t>
            </a:r>
            <a:r>
              <a:rPr lang="en-GB" b="1" dirty="0"/>
              <a:t>the state space</a:t>
            </a:r>
            <a:r>
              <a:rPr lang="en-GB" dirty="0"/>
              <a:t>. Then we can project the neural trajectories onto that axes.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725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first looked at some 3D plots to orient ourselves, but these can be unintuitive to look at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14173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2A276-DBAB-0740-6070-CC879DFEC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296B9-0580-C4A4-2C87-85D8FBBEC7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955B49-C56F-14CF-F9A3-D5632FD62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We start with the space encoding axes that we made active only around the cue.</a:t>
            </a:r>
          </a:p>
          <a:p>
            <a:r>
              <a:rPr lang="en-GB" dirty="0"/>
              <a:t>For the horizontal axis, we see a clear separation of the ipsilateral and contralateral space around the CUE.</a:t>
            </a:r>
          </a:p>
          <a:p>
            <a:r>
              <a:rPr lang="en-GB" dirty="0"/>
              <a:t>For the vertical direction, we see that it separates on the contralateral side, but not so much the ipsilateral side.</a:t>
            </a:r>
          </a:p>
          <a:p>
            <a:r>
              <a:rPr lang="en-GB" dirty="0"/>
              <a:t>So what we see here is a bias to encode for contralateral space, which is expected from previous studies.</a:t>
            </a:r>
          </a:p>
          <a:p>
            <a:r>
              <a:rPr lang="en-GB" dirty="0"/>
              <a:t>What we still don’t know is if the bias is for salience or for voluntary action.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A9987-05C1-4EB1-5F77-EE2A8C947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07825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These are the condition-independent axes. Here, we see that we can find a subspaces that encode for general increase or decrease of activity due to the timing of events. Basically we want to control for these general activations.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43843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we come to the hand axes. There are 8 trajectories here corresponding to the combination of effector, hand and space.</a:t>
            </a:r>
          </a:p>
          <a:p>
            <a:r>
              <a:rPr lang="en-GB" dirty="0"/>
              <a:t>We see a clear separation between the trajectories for the contra and </a:t>
            </a:r>
            <a:r>
              <a:rPr lang="en-GB" dirty="0" err="1"/>
              <a:t>ipsi</a:t>
            </a:r>
            <a:r>
              <a:rPr lang="en-GB" dirty="0"/>
              <a:t> hand.</a:t>
            </a:r>
          </a:p>
          <a:p>
            <a:r>
              <a:rPr lang="en-GB" dirty="0"/>
              <a:t>This even exists before the CUE and also for saccade trajectories, so we interpret this as explaining postural effect of hand.</a:t>
            </a:r>
          </a:p>
          <a:p>
            <a:r>
              <a:rPr lang="en-GB" dirty="0"/>
              <a:t>So the pulvinar seems to encode for hand even when it is not actively in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2727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looking at saccade axes along the horizontal direction, we have two independent axis for planning and movement.</a:t>
            </a:r>
          </a:p>
          <a:p>
            <a:r>
              <a:rPr lang="en-GB" dirty="0"/>
              <a:t>In planning, we see a separation of not only saccades which is expected but also of reaches</a:t>
            </a:r>
          </a:p>
          <a:p>
            <a:r>
              <a:rPr lang="en-GB" dirty="0"/>
              <a:t>This means that TDR was not able to find a pattern of activity in the dorsal pulvinar that specifically encodes saccades during planning.</a:t>
            </a:r>
          </a:p>
          <a:p>
            <a:r>
              <a:rPr lang="en-GB" dirty="0"/>
              <a:t>So the pulvinar seems to not encode for saccades during planning. But it does do so during movement.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10935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what about reaches during planning. Here, we also see that although the axis is meant to only separate the reach conditions, it is not able to do so.</a:t>
            </a:r>
          </a:p>
          <a:p>
            <a:r>
              <a:rPr lang="en-GB" dirty="0"/>
              <a:t>So the planning results might indicate that the pulvinar encodes for planning in space in a general sense</a:t>
            </a:r>
          </a:p>
          <a:p>
            <a:r>
              <a:rPr lang="en-GB" dirty="0"/>
              <a:t>To speculate a bit, it might be encoding for general sense of goal or attention, where do I need to be, but not which effector should I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5782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the last set of plots, for hand encoding during movement, we do some clear signal.</a:t>
            </a:r>
          </a:p>
          <a:p>
            <a:r>
              <a:rPr lang="en-GB" dirty="0"/>
              <a:t>We do see the separation between the brown and green trajectories.</a:t>
            </a:r>
          </a:p>
          <a:p>
            <a:r>
              <a:rPr lang="en-GB" dirty="0"/>
              <a:t>But interestingly, we also see a signal for ipsilateral hand, only during reaches to the opposite space.</a:t>
            </a:r>
          </a:p>
          <a:p>
            <a:r>
              <a:rPr lang="en-GB" dirty="0"/>
              <a:t>There is a clear asymmetry and we are still figuring out what that could mean.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49015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There are several things we still need to look at.</a:t>
            </a:r>
          </a:p>
          <a:p>
            <a:r>
              <a:rPr lang="en-GB" dirty="0"/>
              <a:t>First we need proper quantification of these trajectories and differences between them and do some statistics on them.</a:t>
            </a:r>
          </a:p>
          <a:p>
            <a:r>
              <a:rPr lang="en-GB" dirty="0"/>
              <a:t>Only then we can be more conclusive.</a:t>
            </a:r>
          </a:p>
          <a:p>
            <a:endParaRPr lang="en-GB" dirty="0"/>
          </a:p>
          <a:p>
            <a:r>
              <a:rPr lang="en-GB" dirty="0"/>
              <a:t>Next, we can do similar analysis for parietal and frontal regions. And we can use the idea of communication subspace.</a:t>
            </a:r>
          </a:p>
          <a:p>
            <a:r>
              <a:rPr lang="en-GB" dirty="0"/>
              <a:t>The idea is that we can instead predict the activity of one region from another region. And the beta here, give us a communication subspace.</a:t>
            </a:r>
          </a:p>
          <a:p>
            <a:r>
              <a:rPr lang="en-GB" dirty="0"/>
              <a:t>Then we can quantify the angles between this subspace and the task axes.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378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Now I would like to thank the people at the DAG</a:t>
            </a:r>
          </a:p>
          <a:p>
            <a:r>
              <a:rPr lang="en-GB" dirty="0"/>
              <a:t>And now open to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F043AF-D60D-425B-B312-DC2FEEC9DB52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3040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2E53-2453-5726-43A3-2EEC0F73FC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4130B8-66CA-EBBD-E5EF-0D077201B7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48CF1F-740A-4E3E-FF75-9606C2337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D7B3B-189F-811D-1716-7B2823C4E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F0B55-C06E-13E0-A9C7-39BDDC17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9983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09F42-E6D3-7FB9-C62F-0517FE188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BA4BF-143E-E611-B12D-C5E8105F39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412E8-F615-2DEC-1390-BE99F3F2B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CDDBE-BD12-5E9B-3A03-8721DDAA8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54737-CE66-D08D-26B8-8759622E4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7156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D48F2-54B5-746B-3F24-B84F0CDA8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CEEB0-8079-2837-8A6D-E87B2845A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5CA74-6730-A2F0-9204-50477713B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2D30C-9210-8CD4-4E95-677289463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97751-E648-48EA-0ED1-AF665FD96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783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933A1-E8BF-D913-1CAA-47E2F4A66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F6894-DAAD-2A69-A7E5-A06ECB2BC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2022A-800B-C7D0-E300-87E8172085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2D74EF-C0AC-A6E8-308C-442813A71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FEFDB-C2C4-07CF-3BDB-9CA654EE2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5A531E-F41B-EA1F-34E3-E724C776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539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3030-BA08-B858-4E38-35AE75886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BB6B55-E35B-C5EF-B0FB-FC4024E58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0C2ED-68E0-A4D3-A867-B5B5F86426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B3C4B4-450D-E17E-B846-476981E1B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71D1D0-4504-5006-EDD5-AB29E709BF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BDC4F-13F3-886A-E2F6-ECAAFCC08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2A1D3-3720-9DD0-513F-A9E570C6BE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35F13C-F66D-049F-E11B-850ED51D1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1949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E9E3F-7A18-CE95-0D77-CDA15E586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02D645-4894-0BB0-30B8-25A1F509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387B0-DC8B-EB8B-B7AD-997507388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8ED1AC-C13F-7389-D9B5-CD6F6A176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927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1EC884-5F5E-AA46-5EC5-0EB83A52D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3ADCB0-43A8-0209-D8B7-08EDBC1B0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AFFB07-793B-BEBD-5B86-BBCF4BBA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421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69F9F-A651-DE29-CA90-3BA699E43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8C787-CAF7-9993-AC78-B56238C4A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60122-0954-389D-C3CB-3630EA8042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B56685-ACD6-9F80-1D1A-8D28E6C01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E81CB-28C0-F2FF-15CE-58CC9E2E5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431654-5A14-D616-DE6B-59145C252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691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4027-5D80-3CBB-87E6-50C537505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56B08E-6728-C901-2326-318733E7D8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C56A16-E332-06A3-7D35-AD57DB283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595DF-16E6-4626-293F-D780ACE54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104AC4-8A68-E565-6E02-775C12994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577F95-4D8E-56A4-6CA3-06CCD20C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2841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CFA8A-2C5E-F711-EEBD-10E2C73F5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EDBE3-668F-25B3-9D90-D5F8C5A4D7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7C3D0-49AF-ED1B-4B48-2F9D8E97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77F03-20E3-1D44-1D87-A2C0C6200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6DDB7E-4EF7-0D71-E28A-85243AB10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8272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4EBA4D-9279-7C5A-9F78-731D2986D5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37949-D0C6-C9F4-4908-D004CD64B9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021AC-D68D-61BC-FB46-1CA7598CB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31464-3295-50F3-03BF-6A9AA324B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4E03F6-C395-0EB3-EBC2-49551BDA1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985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BC0B1-F0C4-6C76-7597-8F77613D4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F50727-EEFB-C2B0-6CE8-2A37393A3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521091-2FDB-762D-1883-549F7838F7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75A52-A59B-4CD0-BA1E-C781A76AB75D}" type="datetimeFigureOut">
              <a:rPr lang="en-GB" smtClean="0"/>
              <a:t>28/06/2026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EA751-FEE0-D984-8454-908F6F3FA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AC30A-9AD4-42C6-E52A-C5DEC1236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65C67-B30D-44D8-A393-1761B6AF804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2851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5.jpeg"/><Relationship Id="rId5" Type="http://schemas.openxmlformats.org/officeDocument/2006/relationships/image" Target="../media/image34.jp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523/JNEUROSCI.18-10-03870.1998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2221B-7680-AFD3-35AE-A4FE026D6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4400" dirty="0"/>
              <a:t>Dorsal Pulvinar Contributions to Reaches and Saccades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1F272D-9068-0C7F-F31B-5BE94DDA2A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Nikhil Yadav</a:t>
            </a:r>
          </a:p>
          <a:p>
            <a:r>
              <a:rPr lang="en-GB" dirty="0"/>
              <a:t>IMPRS Neuroscience</a:t>
            </a:r>
          </a:p>
          <a:p>
            <a:r>
              <a:rPr lang="en-GB" dirty="0"/>
              <a:t>(Lab Rotation 3)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DAB86F-1807-500E-AEE8-874B0AC9F5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4905" y="243799"/>
            <a:ext cx="3322320" cy="801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087559-E738-21F9-1A70-D621A7FC45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15" y="260011"/>
            <a:ext cx="4835621" cy="8623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2E7722-15B2-36C9-047A-410B25B753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8128" y="4897899"/>
            <a:ext cx="2705478" cy="17163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47327FD-A277-4F51-4C1B-E7DB44C4426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15" y="4834150"/>
            <a:ext cx="3594052" cy="1718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3672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77F40-E299-2EEF-667B-BB4E8B223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526794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Sensorimotor Transformation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DA4BF12-D360-28F5-D654-D54490668BB5}"/>
              </a:ext>
            </a:extLst>
          </p:cNvPr>
          <p:cNvGrpSpPr/>
          <p:nvPr/>
        </p:nvGrpSpPr>
        <p:grpSpPr>
          <a:xfrm>
            <a:off x="5270290" y="1621471"/>
            <a:ext cx="6501580" cy="4219531"/>
            <a:chOff x="2716560" y="2430161"/>
            <a:chExt cx="6501580" cy="421953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3AAF407-9900-78BB-F9A9-822D805728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6560" y="2430161"/>
              <a:ext cx="6501580" cy="4219531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A84D910-D6F9-2DFA-FC92-99C09AEC273A}"/>
                </a:ext>
              </a:extLst>
            </p:cNvPr>
            <p:cNvSpPr txBox="1"/>
            <p:nvPr/>
          </p:nvSpPr>
          <p:spPr>
            <a:xfrm>
              <a:off x="3468129" y="3059667"/>
              <a:ext cx="1235676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Decision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DDE9386-252B-50C3-3DE6-DA141BE2A41E}"/>
                </a:ext>
              </a:extLst>
            </p:cNvPr>
            <p:cNvSpPr txBox="1"/>
            <p:nvPr/>
          </p:nvSpPr>
          <p:spPr>
            <a:xfrm>
              <a:off x="3321907" y="5712597"/>
              <a:ext cx="15281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Perception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A12F0FE-183B-B8BB-D3A7-E4F9A55A13F2}"/>
                </a:ext>
              </a:extLst>
            </p:cNvPr>
            <p:cNvSpPr txBox="1"/>
            <p:nvPr/>
          </p:nvSpPr>
          <p:spPr>
            <a:xfrm>
              <a:off x="6104238" y="5712596"/>
              <a:ext cx="15281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Outcome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496ABDA-0215-E1A8-498D-1129E9B34C98}"/>
                </a:ext>
              </a:extLst>
            </p:cNvPr>
            <p:cNvSpPr txBox="1"/>
            <p:nvPr/>
          </p:nvSpPr>
          <p:spPr>
            <a:xfrm>
              <a:off x="5967350" y="3059667"/>
              <a:ext cx="1528120" cy="4616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GB" sz="2400" dirty="0"/>
                <a:t>Action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A7ABB14-C6B8-D530-3AEC-DE146347498C}"/>
              </a:ext>
            </a:extLst>
          </p:cNvPr>
          <p:cNvSpPr txBox="1"/>
          <p:nvPr/>
        </p:nvSpPr>
        <p:spPr>
          <a:xfrm>
            <a:off x="348441" y="3159550"/>
            <a:ext cx="3225912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400" dirty="0"/>
              <a:t>Goals/Rewards/</a:t>
            </a:r>
          </a:p>
          <a:p>
            <a:pPr algn="ctr"/>
            <a:r>
              <a:rPr lang="en-GB" sz="2400" dirty="0"/>
              <a:t>Motivations/Predictions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35EFD51-6B2C-C708-582A-7B727A1C8B14}"/>
              </a:ext>
            </a:extLst>
          </p:cNvPr>
          <p:cNvCxnSpPr>
            <a:cxnSpLocks/>
          </p:cNvCxnSpPr>
          <p:nvPr/>
        </p:nvCxnSpPr>
        <p:spPr>
          <a:xfrm>
            <a:off x="3666931" y="3575049"/>
            <a:ext cx="1418202" cy="0"/>
          </a:xfrm>
          <a:prstGeom prst="straightConnector1">
            <a:avLst/>
          </a:prstGeom>
          <a:ln w="25400">
            <a:headEnd w="lg" len="med"/>
            <a:tailEnd type="triangle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9366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9CFD8-08C1-485B-9D7E-946FB63387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CBE1A-623E-DE37-574B-04C65F0CDE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526794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Brain regions for Saccades and Hand Reaches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010DDEA-3B76-A749-F7CE-82F73117C31F}"/>
              </a:ext>
            </a:extLst>
          </p:cNvPr>
          <p:cNvSpPr txBox="1"/>
          <p:nvPr/>
        </p:nvSpPr>
        <p:spPr>
          <a:xfrm>
            <a:off x="508801" y="5562597"/>
            <a:ext cx="52248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Posterior Parietal Cortex: Localising visual information</a:t>
            </a:r>
          </a:p>
          <a:p>
            <a:pPr algn="ctr"/>
            <a:r>
              <a:rPr lang="en-GB" dirty="0"/>
              <a:t>In a proprioceptive body-centred world for action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66E927E-24A6-6324-925D-EDC063A2F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14" y="1966313"/>
            <a:ext cx="5416765" cy="331889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6234EFF-3441-3408-3D20-25211AA59097}"/>
              </a:ext>
            </a:extLst>
          </p:cNvPr>
          <p:cNvSpPr txBox="1"/>
          <p:nvPr/>
        </p:nvSpPr>
        <p:spPr>
          <a:xfrm>
            <a:off x="1045286" y="1504648"/>
            <a:ext cx="4293786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The dorsal “WHERE/HOW” pathway (1)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E2DC11-A656-ED76-E26A-C0CD7E5219F8}"/>
              </a:ext>
            </a:extLst>
          </p:cNvPr>
          <p:cNvSpPr txBox="1"/>
          <p:nvPr/>
        </p:nvSpPr>
        <p:spPr>
          <a:xfrm>
            <a:off x="6858947" y="5562597"/>
            <a:ext cx="37797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/>
              <a:t>Frontal eye fields and premotor cortex</a:t>
            </a:r>
          </a:p>
          <a:p>
            <a:pPr algn="ctr"/>
            <a:r>
              <a:rPr lang="en-GB" dirty="0"/>
              <a:t>Subcortical: Superior Colliculus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7F044D-E898-C641-3E8D-F5FBA5A45194}"/>
              </a:ext>
            </a:extLst>
          </p:cNvPr>
          <p:cNvSpPr txBox="1"/>
          <p:nvPr/>
        </p:nvSpPr>
        <p:spPr>
          <a:xfrm>
            <a:off x="6672854" y="1504648"/>
            <a:ext cx="4293786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2000" dirty="0"/>
              <a:t>The frontal motor regions (2)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84C8BD8A-9317-AA43-70A3-22BB9B8A59D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927" y="2190511"/>
            <a:ext cx="5530338" cy="309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4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 animBg="1"/>
      <p:bldP spid="28" grpId="0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7DCCF-B3CA-3FA9-D70D-E6A79DDAC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F8F69BB0-517B-E482-94B3-E340B73882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20"/>
          <a:stretch>
            <a:fillRect/>
          </a:stretch>
        </p:blipFill>
        <p:spPr>
          <a:xfrm>
            <a:off x="982194" y="2755467"/>
            <a:ext cx="4160037" cy="41025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0D8A39-CEC7-7B73-94D7-B08768C8A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526794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Situating the Pulvinar: Subdivisions and connectivity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AC388F-3CF6-1F59-D123-9E8F92924F25}"/>
              </a:ext>
            </a:extLst>
          </p:cNvPr>
          <p:cNvSpPr txBox="1"/>
          <p:nvPr/>
        </p:nvSpPr>
        <p:spPr>
          <a:xfrm>
            <a:off x="420128" y="2348246"/>
            <a:ext cx="60183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Dorsal Pulvinar connects bidirectionally with saccade and reach regions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C5E55CB-CF3E-A364-318B-358D54D373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127" y="1169028"/>
            <a:ext cx="5210743" cy="5210743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8FAE824-5387-241A-AC32-F4915AA4DB84}"/>
              </a:ext>
            </a:extLst>
          </p:cNvPr>
          <p:cNvSpPr txBox="1"/>
          <p:nvPr/>
        </p:nvSpPr>
        <p:spPr>
          <a:xfrm>
            <a:off x="420129" y="985636"/>
            <a:ext cx="60183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Largest thalamic nucleus in the primate brain, Higher-order nucleus with multiple subnuclei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9E45A5-9DB9-EADE-D885-8B163476EF3C}"/>
              </a:ext>
            </a:extLst>
          </p:cNvPr>
          <p:cNvSpPr txBox="1"/>
          <p:nvPr/>
        </p:nvSpPr>
        <p:spPr>
          <a:xfrm>
            <a:off x="8294284" y="6476970"/>
            <a:ext cx="389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Ref: (3)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3F916F-2AE5-B370-39C8-2B96402B93DB}"/>
              </a:ext>
            </a:extLst>
          </p:cNvPr>
          <p:cNvSpPr txBox="1"/>
          <p:nvPr/>
        </p:nvSpPr>
        <p:spPr>
          <a:xfrm>
            <a:off x="3375639" y="5199464"/>
            <a:ext cx="13504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rgbClr val="FF0000"/>
                </a:solidFill>
              </a:rPr>
              <a:t>Red</a:t>
            </a:r>
            <a:r>
              <a:rPr lang="en-GB" sz="1400" b="1" dirty="0"/>
              <a:t>: Saccades</a:t>
            </a:r>
          </a:p>
          <a:p>
            <a:r>
              <a:rPr lang="en-GB" sz="1400" b="1" dirty="0">
                <a:solidFill>
                  <a:srgbClr val="00B050"/>
                </a:solidFill>
              </a:rPr>
              <a:t>Green</a:t>
            </a:r>
            <a:r>
              <a:rPr lang="en-GB" sz="1400" b="1" dirty="0"/>
              <a:t>: Reaches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40C67B-E466-2529-B1CF-B4073BC69727}"/>
              </a:ext>
            </a:extLst>
          </p:cNvPr>
          <p:cNvSpPr txBox="1"/>
          <p:nvPr/>
        </p:nvSpPr>
        <p:spPr>
          <a:xfrm>
            <a:off x="420129" y="1671527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Hub for spatial attention, target selection, and coordination of visual networks</a:t>
            </a:r>
          </a:p>
        </p:txBody>
      </p:sp>
    </p:spTree>
    <p:extLst>
      <p:ext uri="{BB962C8B-B14F-4D97-AF65-F5344CB8AC3E}">
        <p14:creationId xmlns:p14="http://schemas.microsoft.com/office/powerpoint/2010/main" val="13045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2" grpId="0"/>
      <p:bldP spid="26" grpId="0"/>
      <p:bldP spid="27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9A2C1-4987-D05E-B8E5-DE60091A5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AE1CE-298B-987A-44B5-BC592F7CE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Experimental Setup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30480E-E6E1-92F6-7EE3-74842FABA41E}"/>
              </a:ext>
            </a:extLst>
          </p:cNvPr>
          <p:cNvSpPr txBox="1"/>
          <p:nvPr/>
        </p:nvSpPr>
        <p:spPr>
          <a:xfrm>
            <a:off x="246509" y="1047195"/>
            <a:ext cx="11650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Monkey sits in front of screen, eye tracker + electrodes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DF3977-7BD1-5E31-1C9D-A55F2F001A97}"/>
              </a:ext>
            </a:extLst>
          </p:cNvPr>
          <p:cNvSpPr/>
          <p:nvPr/>
        </p:nvSpPr>
        <p:spPr>
          <a:xfrm>
            <a:off x="641127" y="2812597"/>
            <a:ext cx="2098222" cy="1347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9040975-FA62-CDEA-472A-E699536E1EA0}"/>
              </a:ext>
            </a:extLst>
          </p:cNvPr>
          <p:cNvSpPr/>
          <p:nvPr/>
        </p:nvSpPr>
        <p:spPr>
          <a:xfrm>
            <a:off x="1669827" y="3477985"/>
            <a:ext cx="48986" cy="57150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B80BA0-AE5C-C179-4C00-90529F11A8E7}"/>
              </a:ext>
            </a:extLst>
          </p:cNvPr>
          <p:cNvSpPr txBox="1"/>
          <p:nvPr/>
        </p:nvSpPr>
        <p:spPr>
          <a:xfrm>
            <a:off x="1061357" y="5656304"/>
            <a:ext cx="13149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Fixation Dot</a:t>
            </a:r>
          </a:p>
          <a:p>
            <a:endParaRPr lang="en-GB" dirty="0"/>
          </a:p>
          <a:p>
            <a:r>
              <a:rPr lang="en-GB" dirty="0"/>
              <a:t>Eyes + Arm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B8812EA-88F9-BCFA-A93D-E37614D2B981}"/>
              </a:ext>
            </a:extLst>
          </p:cNvPr>
          <p:cNvSpPr/>
          <p:nvPr/>
        </p:nvSpPr>
        <p:spPr>
          <a:xfrm>
            <a:off x="3744686" y="1805251"/>
            <a:ext cx="2098222" cy="1347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C01B1E2-D858-8A93-7410-1DB6F6BA49DA}"/>
              </a:ext>
            </a:extLst>
          </p:cNvPr>
          <p:cNvSpPr/>
          <p:nvPr/>
        </p:nvSpPr>
        <p:spPr>
          <a:xfrm>
            <a:off x="3744686" y="3705643"/>
            <a:ext cx="2098222" cy="1347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BB50D51-0602-5353-C845-44032EE6E530}"/>
              </a:ext>
            </a:extLst>
          </p:cNvPr>
          <p:cNvSpPr/>
          <p:nvPr/>
        </p:nvSpPr>
        <p:spPr>
          <a:xfrm>
            <a:off x="5512484" y="2068274"/>
            <a:ext cx="48986" cy="571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CB9E953-AA9F-A2A7-7463-C1B09A4C841C}"/>
              </a:ext>
            </a:extLst>
          </p:cNvPr>
          <p:cNvSpPr/>
          <p:nvPr/>
        </p:nvSpPr>
        <p:spPr>
          <a:xfrm>
            <a:off x="4009687" y="4796401"/>
            <a:ext cx="48986" cy="571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A9F1413-4E7C-2D08-8E44-BDB60744FEB5}"/>
              </a:ext>
            </a:extLst>
          </p:cNvPr>
          <p:cNvSpPr/>
          <p:nvPr/>
        </p:nvSpPr>
        <p:spPr>
          <a:xfrm>
            <a:off x="4756975" y="2412658"/>
            <a:ext cx="111348" cy="1337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6749E53-3853-A032-1E15-67E797CA3220}"/>
              </a:ext>
            </a:extLst>
          </p:cNvPr>
          <p:cNvSpPr/>
          <p:nvPr/>
        </p:nvSpPr>
        <p:spPr>
          <a:xfrm>
            <a:off x="4756975" y="4318263"/>
            <a:ext cx="111348" cy="133766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8FC4F5-12BD-4600-427B-072E1EFA541B}"/>
              </a:ext>
            </a:extLst>
          </p:cNvPr>
          <p:cNvSpPr txBox="1"/>
          <p:nvPr/>
        </p:nvSpPr>
        <p:spPr>
          <a:xfrm>
            <a:off x="3801824" y="5282869"/>
            <a:ext cx="19839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Cued effector and target location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BA844D8-57D2-9716-91DA-57952CC9DD69}"/>
              </a:ext>
            </a:extLst>
          </p:cNvPr>
          <p:cNvCxnSpPr/>
          <p:nvPr/>
        </p:nvCxnSpPr>
        <p:spPr>
          <a:xfrm flipV="1">
            <a:off x="2906486" y="2612571"/>
            <a:ext cx="644978" cy="8164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87AD326-E952-24FA-4CA0-D5FF0E88CD81}"/>
              </a:ext>
            </a:extLst>
          </p:cNvPr>
          <p:cNvCxnSpPr>
            <a:cxnSpLocks/>
          </p:cNvCxnSpPr>
          <p:nvPr/>
        </p:nvCxnSpPr>
        <p:spPr>
          <a:xfrm>
            <a:off x="2906486" y="3430577"/>
            <a:ext cx="644978" cy="8638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98012C23-A070-DBA4-4762-F18C661C2950}"/>
              </a:ext>
            </a:extLst>
          </p:cNvPr>
          <p:cNvSpPr/>
          <p:nvPr/>
        </p:nvSpPr>
        <p:spPr>
          <a:xfrm>
            <a:off x="6892019" y="1805251"/>
            <a:ext cx="2098222" cy="1347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44C4D28-0714-F9B6-B251-502F7C1EA146}"/>
              </a:ext>
            </a:extLst>
          </p:cNvPr>
          <p:cNvSpPr/>
          <p:nvPr/>
        </p:nvSpPr>
        <p:spPr>
          <a:xfrm>
            <a:off x="8659817" y="2068274"/>
            <a:ext cx="48986" cy="571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39415C7-3117-D89F-12AF-AFE09F189B95}"/>
              </a:ext>
            </a:extLst>
          </p:cNvPr>
          <p:cNvSpPr/>
          <p:nvPr/>
        </p:nvSpPr>
        <p:spPr>
          <a:xfrm>
            <a:off x="6892019" y="3689731"/>
            <a:ext cx="2098222" cy="134710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7AE9E38-74E5-2DF5-5CF0-70ABF9CE7B80}"/>
              </a:ext>
            </a:extLst>
          </p:cNvPr>
          <p:cNvSpPr/>
          <p:nvPr/>
        </p:nvSpPr>
        <p:spPr>
          <a:xfrm>
            <a:off x="7100022" y="4767826"/>
            <a:ext cx="48986" cy="571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Arc 30">
            <a:extLst>
              <a:ext uri="{FF2B5EF4-FFF2-40B4-BE49-F238E27FC236}">
                <a16:creationId xmlns:a16="http://schemas.microsoft.com/office/drawing/2014/main" id="{3DEA33EC-FE1F-15C0-5E1A-11F2AAF1B4DF}"/>
              </a:ext>
            </a:extLst>
          </p:cNvPr>
          <p:cNvSpPr/>
          <p:nvPr/>
        </p:nvSpPr>
        <p:spPr>
          <a:xfrm flipH="1">
            <a:off x="8052478" y="2096849"/>
            <a:ext cx="1049111" cy="544297"/>
          </a:xfrm>
          <a:prstGeom prst="arc">
            <a:avLst>
              <a:gd name="adj1" fmla="val 15548829"/>
              <a:gd name="adj2" fmla="val 0"/>
            </a:avLst>
          </a:prstGeom>
          <a:ln>
            <a:head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Arc 32">
            <a:extLst>
              <a:ext uri="{FF2B5EF4-FFF2-40B4-BE49-F238E27FC236}">
                <a16:creationId xmlns:a16="http://schemas.microsoft.com/office/drawing/2014/main" id="{CF86FDCB-7575-E60A-A0D1-E9747746F965}"/>
              </a:ext>
            </a:extLst>
          </p:cNvPr>
          <p:cNvSpPr/>
          <p:nvPr/>
        </p:nvSpPr>
        <p:spPr>
          <a:xfrm flipV="1">
            <a:off x="6778210" y="4197700"/>
            <a:ext cx="1155621" cy="598701"/>
          </a:xfrm>
          <a:prstGeom prst="arc">
            <a:avLst>
              <a:gd name="adj1" fmla="val 15548829"/>
              <a:gd name="adj2" fmla="val 0"/>
            </a:avLst>
          </a:prstGeom>
          <a:ln>
            <a:head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BF3E1EC-7A9A-2BA4-B4E1-962BF57EF92E}"/>
              </a:ext>
            </a:extLst>
          </p:cNvPr>
          <p:cNvCxnSpPr>
            <a:cxnSpLocks/>
          </p:cNvCxnSpPr>
          <p:nvPr/>
        </p:nvCxnSpPr>
        <p:spPr>
          <a:xfrm>
            <a:off x="5919019" y="2546424"/>
            <a:ext cx="859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9CDF7709-4330-80B0-4D53-94237817C741}"/>
              </a:ext>
            </a:extLst>
          </p:cNvPr>
          <p:cNvSpPr txBox="1"/>
          <p:nvPr/>
        </p:nvSpPr>
        <p:spPr>
          <a:xfrm>
            <a:off x="6036130" y="2166124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1.3 s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59A25C5-EBB3-C21B-6968-064EEF1941AB}"/>
              </a:ext>
            </a:extLst>
          </p:cNvPr>
          <p:cNvCxnSpPr>
            <a:cxnSpLocks/>
          </p:cNvCxnSpPr>
          <p:nvPr/>
        </p:nvCxnSpPr>
        <p:spPr>
          <a:xfrm>
            <a:off x="5940812" y="4508019"/>
            <a:ext cx="8591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214F393D-0467-4722-8376-707E216F740A}"/>
              </a:ext>
            </a:extLst>
          </p:cNvPr>
          <p:cNvSpPr txBox="1"/>
          <p:nvPr/>
        </p:nvSpPr>
        <p:spPr>
          <a:xfrm>
            <a:off x="6057923" y="4127719"/>
            <a:ext cx="619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1.3 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829D03A-2914-60E1-1C87-FD22AF3F149A}"/>
              </a:ext>
            </a:extLst>
          </p:cNvPr>
          <p:cNvSpPr txBox="1"/>
          <p:nvPr/>
        </p:nvSpPr>
        <p:spPr>
          <a:xfrm>
            <a:off x="6778210" y="5319303"/>
            <a:ext cx="19839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Movement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A3FC095-3473-53A1-5942-D680DA45505A}"/>
              </a:ext>
            </a:extLst>
          </p:cNvPr>
          <p:cNvSpPr txBox="1"/>
          <p:nvPr/>
        </p:nvSpPr>
        <p:spPr>
          <a:xfrm>
            <a:off x="9410427" y="3216164"/>
            <a:ext cx="2486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Either the arm or the eyes move, not both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6476C70A-0E9E-1B8F-4B34-127803346A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355" y="4312385"/>
            <a:ext cx="1238916" cy="12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56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  <p:bldP spid="7" grpId="0" animBg="1"/>
      <p:bldP spid="10" grpId="0" animBg="1"/>
      <p:bldP spid="12" grpId="0" animBg="1"/>
      <p:bldP spid="13" grpId="0" animBg="1"/>
      <p:bldP spid="15" grpId="0" animBg="1"/>
      <p:bldP spid="16" grpId="0" animBg="1"/>
      <p:bldP spid="17" grpId="0"/>
      <p:bldP spid="23" grpId="0" animBg="1"/>
      <p:bldP spid="24" grpId="0" animBg="1"/>
      <p:bldP spid="26" grpId="0" animBg="1"/>
      <p:bldP spid="27" grpId="0" animBg="1"/>
      <p:bldP spid="31" grpId="0" animBg="1"/>
      <p:bldP spid="33" grpId="0" animBg="1"/>
      <p:bldP spid="39" grpId="0"/>
      <p:bldP spid="41" grpId="0"/>
      <p:bldP spid="44" grpId="0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741FD-4D40-DCE7-2662-6E352C03A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DF73-FA54-94E1-EE4D-B291B8E3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Basic preprocessing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A8155-FEF6-6E48-45BD-C267291D26E4}"/>
              </a:ext>
            </a:extLst>
          </p:cNvPr>
          <p:cNvSpPr txBox="1"/>
          <p:nvPr/>
        </p:nvSpPr>
        <p:spPr>
          <a:xfrm>
            <a:off x="256403" y="1059542"/>
            <a:ext cx="58509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Data from two monkeys F and L. Only data from F is shown.</a:t>
            </a:r>
          </a:p>
          <a:p>
            <a:r>
              <a:rPr lang="en-GB" dirty="0"/>
              <a:t>	</a:t>
            </a:r>
            <a:r>
              <a:rPr lang="en-GB" b="1" dirty="0"/>
              <a:t>Neurons/Units</a:t>
            </a:r>
            <a:r>
              <a:rPr lang="en-GB" dirty="0"/>
              <a:t>: 201</a:t>
            </a:r>
          </a:p>
          <a:p>
            <a:r>
              <a:rPr lang="en-GB" dirty="0"/>
              <a:t>	</a:t>
            </a:r>
            <a:r>
              <a:rPr lang="en-GB" b="1" dirty="0"/>
              <a:t>Number of total trials</a:t>
            </a:r>
            <a:r>
              <a:rPr lang="en-GB" dirty="0"/>
              <a:t>: 38,845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D04510-9C4D-EAEC-6D87-48302D9E2A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6958" y="3703747"/>
            <a:ext cx="6780738" cy="27585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53D66E-55D9-21FA-2D58-BC5663344116}"/>
              </a:ext>
            </a:extLst>
          </p:cNvPr>
          <p:cNvSpPr txBox="1"/>
          <p:nvPr/>
        </p:nvSpPr>
        <p:spPr>
          <a:xfrm>
            <a:off x="256402" y="2058773"/>
            <a:ext cx="9916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Converting spikes to firing rates with convolution. Activity centred around the CUE </a:t>
            </a:r>
            <a:r>
              <a:rPr lang="en-GB" b="1" dirty="0"/>
              <a:t>(-500 ms to 2000 ms)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2B64D-18D5-1A38-0039-873AD6ED9552}"/>
              </a:ext>
            </a:extLst>
          </p:cNvPr>
          <p:cNvSpPr txBox="1"/>
          <p:nvPr/>
        </p:nvSpPr>
        <p:spPr>
          <a:xfrm>
            <a:off x="256402" y="2504006"/>
            <a:ext cx="99162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Square root transformation (4)</a:t>
            </a:r>
          </a:p>
          <a:p>
            <a:r>
              <a:rPr lang="en-GB" b="1" dirty="0"/>
              <a:t>	</a:t>
            </a:r>
            <a:r>
              <a:rPr lang="en-GB" dirty="0"/>
              <a:t>Firing rates are Poisson distributed, variance (and noise) proportional to mean</a:t>
            </a:r>
          </a:p>
          <a:p>
            <a:r>
              <a:rPr lang="en-GB" dirty="0"/>
              <a:t>	Take square root to stabilize across units</a:t>
            </a:r>
          </a:p>
        </p:txBody>
      </p:sp>
    </p:spTree>
    <p:extLst>
      <p:ext uri="{BB962C8B-B14F-4D97-AF65-F5344CB8AC3E}">
        <p14:creationId xmlns:p14="http://schemas.microsoft.com/office/powerpoint/2010/main" val="285967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6A2EF-50CF-EE78-99B6-5252CE983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6879-682D-3B08-A72F-615B84B91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Mixed Selectivity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4A2B59-EDB4-750F-4140-C13AD7FD809B}"/>
              </a:ext>
            </a:extLst>
          </p:cNvPr>
          <p:cNvSpPr txBox="1"/>
          <p:nvPr/>
        </p:nvSpPr>
        <p:spPr>
          <a:xfrm>
            <a:off x="233747" y="1132785"/>
            <a:ext cx="1146514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neuron shows mixed selectivity if it responds to multiple </a:t>
            </a:r>
            <a:r>
              <a:rPr lang="en-GB" b="1" dirty="0"/>
              <a:t>independent task variables</a:t>
            </a:r>
            <a:r>
              <a:rPr lang="en-GB" dirty="0"/>
              <a:t>.</a:t>
            </a:r>
          </a:p>
          <a:p>
            <a:r>
              <a:rPr lang="en-GB" dirty="0"/>
              <a:t>	This makes interpreting single neuron responses very difficult</a:t>
            </a:r>
          </a:p>
          <a:p>
            <a:r>
              <a:rPr lang="en-GB" dirty="0"/>
              <a:t>	Is this neuron encoding space? Effector? Hand? Cue? Movement? An interaction?</a:t>
            </a:r>
          </a:p>
          <a:p>
            <a:r>
              <a:rPr lang="en-GB" dirty="0"/>
              <a:t>	Typical for higher and frontal areas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ACE4EE-1686-C813-3552-35C7AC4F94E2}"/>
              </a:ext>
            </a:extLst>
          </p:cNvPr>
          <p:cNvSpPr txBox="1"/>
          <p:nvPr/>
        </p:nvSpPr>
        <p:spPr>
          <a:xfrm>
            <a:off x="233746" y="2426200"/>
            <a:ext cx="11189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Another problem</a:t>
            </a:r>
            <a:r>
              <a:rPr lang="en-GB" dirty="0"/>
              <a:t>: Single-neuron firing shows </a:t>
            </a:r>
            <a:r>
              <a:rPr lang="en-GB" b="1" dirty="0"/>
              <a:t>trial-to-trial variability</a:t>
            </a:r>
            <a:r>
              <a:rPr lang="en-GB" dirty="0"/>
              <a:t>, so one neuron may not give a reliable readout of the task variable.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FE3856-E8EB-31DF-7755-BB05ADBFC7B8}"/>
              </a:ext>
            </a:extLst>
          </p:cNvPr>
          <p:cNvSpPr txBox="1"/>
          <p:nvPr/>
        </p:nvSpPr>
        <p:spPr>
          <a:xfrm>
            <a:off x="4221374" y="3262250"/>
            <a:ext cx="321458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dirty="0"/>
              <a:t>Population Analysis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69FAC9-6E4A-1544-3C20-7AAFDC21F9A1}"/>
              </a:ext>
            </a:extLst>
          </p:cNvPr>
          <p:cNvSpPr txBox="1"/>
          <p:nvPr/>
        </p:nvSpPr>
        <p:spPr>
          <a:xfrm>
            <a:off x="8294284" y="6476970"/>
            <a:ext cx="389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Ref: (5), (6), (7)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185B66-5094-15CF-29CC-DA3F33AB5099}"/>
              </a:ext>
            </a:extLst>
          </p:cNvPr>
          <p:cNvSpPr txBox="1"/>
          <p:nvPr/>
        </p:nvSpPr>
        <p:spPr>
          <a:xfrm>
            <a:off x="245077" y="4128419"/>
            <a:ext cx="505844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Advantage?</a:t>
            </a:r>
            <a:r>
              <a:rPr lang="en-GB" dirty="0"/>
              <a:t> Actions must be very flexible, hence a regions activity is very high dimensional. This is beneficial for downstream neurons that can more easily choose a specific dimension.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F7CB15-6298-530D-8663-920063FC3C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3521" y="3975189"/>
            <a:ext cx="3724348" cy="27932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9CAA850-A1D6-F549-F2EF-650D4749A2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7637" y="3165617"/>
            <a:ext cx="1965951" cy="147446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6C9EC41-E902-4AFA-575A-87D3AEE930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1125" y="4951776"/>
            <a:ext cx="1711225" cy="1283418"/>
          </a:xfrm>
          <a:prstGeom prst="rect">
            <a:avLst/>
          </a:prstGeom>
        </p:spPr>
      </p:pic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FF0FCF-DDE6-3078-08DF-6D3457F03B5A}"/>
              </a:ext>
            </a:extLst>
          </p:cNvPr>
          <p:cNvCxnSpPr>
            <a:cxnSpLocks/>
          </p:cNvCxnSpPr>
          <p:nvPr/>
        </p:nvCxnSpPr>
        <p:spPr>
          <a:xfrm flipV="1">
            <a:off x="7325199" y="3785470"/>
            <a:ext cx="2345926" cy="4921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F7D0BEB-DB61-FB01-3021-6B1FE059051C}"/>
              </a:ext>
            </a:extLst>
          </p:cNvPr>
          <p:cNvCxnSpPr>
            <a:cxnSpLocks/>
          </p:cNvCxnSpPr>
          <p:nvPr/>
        </p:nvCxnSpPr>
        <p:spPr>
          <a:xfrm flipV="1">
            <a:off x="8441378" y="5593485"/>
            <a:ext cx="1455657" cy="2325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465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922AE-84EA-38C8-BACB-E4EDECDFB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6F7FF-2658-0A50-2484-66F9981DA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Time-resolved Decoding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66545B-6CC4-602E-ACF7-CF2FB4A987E8}"/>
              </a:ext>
            </a:extLst>
          </p:cNvPr>
          <p:cNvSpPr txBox="1"/>
          <p:nvPr/>
        </p:nvSpPr>
        <p:spPr>
          <a:xfrm>
            <a:off x="245076" y="1070058"/>
            <a:ext cx="60711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Decoding</a:t>
            </a:r>
            <a:r>
              <a:rPr lang="en-GB" dirty="0"/>
              <a:t>: Predicting task variables using neural activity.</a:t>
            </a:r>
          </a:p>
          <a:p>
            <a:r>
              <a:rPr lang="en-GB" dirty="0"/>
              <a:t>Task variables: Space, Hand, Effector</a:t>
            </a:r>
          </a:p>
          <a:p>
            <a:endParaRPr lang="en-GB" b="1" dirty="0"/>
          </a:p>
          <a:p>
            <a:r>
              <a:rPr lang="en-GB" dirty="0"/>
              <a:t>Can dorsal pulvinar activity predict whether the target was ipsilateral or contralateral?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FEA9D93-2E10-7406-8F36-EB7A3CE0F2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6771" y="3785576"/>
            <a:ext cx="3249484" cy="279791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96B58FB-EB5E-EC5D-B0A5-AC98693F44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3907" y="1318054"/>
            <a:ext cx="5477495" cy="47163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D1A3954-2DFD-5700-ECA8-BA4538D11D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81" y="3785577"/>
            <a:ext cx="3249484" cy="279791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3084801-135E-7B6E-37EC-C15AB3CC0A2C}"/>
              </a:ext>
            </a:extLst>
          </p:cNvPr>
          <p:cNvSpPr txBox="1"/>
          <p:nvPr/>
        </p:nvSpPr>
        <p:spPr>
          <a:xfrm>
            <a:off x="260598" y="2682115"/>
            <a:ext cx="600700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We use </a:t>
            </a:r>
            <a:r>
              <a:rPr lang="en-GB" b="1" dirty="0"/>
              <a:t>logistic</a:t>
            </a:r>
            <a:r>
              <a:rPr lang="en-GB" dirty="0"/>
              <a:t> </a:t>
            </a:r>
            <a:r>
              <a:rPr lang="en-GB" b="1" dirty="0"/>
              <a:t>regression</a:t>
            </a:r>
            <a:r>
              <a:rPr lang="en-GB" dirty="0"/>
              <a:t> at each time point and predict for every time point. This gives </a:t>
            </a:r>
            <a:r>
              <a:rPr lang="en-GB" b="1" dirty="0"/>
              <a:t>Temporal Generalization Matrices</a:t>
            </a:r>
            <a:r>
              <a:rPr lang="en-GB" dirty="0"/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07C57A-0A40-46E9-3DB7-043F4CD3D743}"/>
              </a:ext>
            </a:extLst>
          </p:cNvPr>
          <p:cNvSpPr txBox="1"/>
          <p:nvPr/>
        </p:nvSpPr>
        <p:spPr>
          <a:xfrm>
            <a:off x="8294284" y="6476970"/>
            <a:ext cx="389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Ref: (8)</a:t>
            </a:r>
          </a:p>
        </p:txBody>
      </p:sp>
    </p:spTree>
    <p:extLst>
      <p:ext uri="{BB962C8B-B14F-4D97-AF65-F5344CB8AC3E}">
        <p14:creationId xmlns:p14="http://schemas.microsoft.com/office/powerpoint/2010/main" val="420502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4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49095-73A3-FB16-BE6E-6378B7F8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0121327-6C3B-BAFA-3C25-2EE229ABC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3444" y="1856632"/>
            <a:ext cx="6302477" cy="472685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42260E-267E-C34D-5EB8-90D98C4CC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Targeted Dimensionality Reduction (TDR)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D9ACBE-3093-A766-A712-23C2EF4F968E}"/>
              </a:ext>
            </a:extLst>
          </p:cNvPr>
          <p:cNvSpPr txBox="1"/>
          <p:nvPr/>
        </p:nvSpPr>
        <p:spPr>
          <a:xfrm>
            <a:off x="403123" y="1278194"/>
            <a:ext cx="56928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Neural activity lives in a </a:t>
            </a:r>
            <a:r>
              <a:rPr lang="en-GB" b="1" dirty="0"/>
              <a:t>high-dimensional state space</a:t>
            </a:r>
          </a:p>
          <a:p>
            <a:r>
              <a:rPr lang="en-GB" dirty="0"/>
              <a:t>	Each axis represent one neuron’s </a:t>
            </a:r>
            <a:r>
              <a:rPr lang="en-GB" b="1" dirty="0"/>
              <a:t>firing rate</a:t>
            </a:r>
          </a:p>
          <a:p>
            <a:endParaRPr lang="en-GB" dirty="0"/>
          </a:p>
          <a:p>
            <a:r>
              <a:rPr lang="en-GB" dirty="0"/>
              <a:t>We represent neural dynamics as </a:t>
            </a:r>
            <a:r>
              <a:rPr lang="en-GB" b="1" dirty="0"/>
              <a:t>neural trajectories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97CC84E-978A-938E-C3BC-5C6323ED883B}"/>
              </a:ext>
            </a:extLst>
          </p:cNvPr>
          <p:cNvGrpSpPr/>
          <p:nvPr/>
        </p:nvGrpSpPr>
        <p:grpSpPr>
          <a:xfrm>
            <a:off x="6631460" y="2619632"/>
            <a:ext cx="2335559" cy="1696730"/>
            <a:chOff x="6631460" y="2619632"/>
            <a:chExt cx="2335559" cy="1696730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89FAEF0F-0857-46B5-CF0F-196890B83EF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58897" y="3028277"/>
              <a:ext cx="1108122" cy="1288085"/>
            </a:xfrm>
            <a:prstGeom prst="straightConnector1">
              <a:avLst/>
            </a:prstGeom>
            <a:ln w="666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5EBD357-4E70-EEB2-7657-D25D2BF8C7A9}"/>
                </a:ext>
              </a:extLst>
            </p:cNvPr>
            <p:cNvSpPr txBox="1"/>
            <p:nvPr/>
          </p:nvSpPr>
          <p:spPr>
            <a:xfrm>
              <a:off x="6631460" y="2619632"/>
              <a:ext cx="1659429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60A500"/>
                  </a:solidFill>
                </a:rPr>
                <a:t>TDR Axis: Space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3506CE5-ECC8-1BAD-7685-EEC783749EDE}"/>
              </a:ext>
            </a:extLst>
          </p:cNvPr>
          <p:cNvSpPr txBox="1"/>
          <p:nvPr/>
        </p:nvSpPr>
        <p:spPr>
          <a:xfrm>
            <a:off x="414450" y="2619632"/>
            <a:ext cx="5692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TDR</a:t>
            </a:r>
            <a:r>
              <a:rPr lang="en-GB" dirty="0"/>
              <a:t>:</a:t>
            </a:r>
            <a:endParaRPr lang="en-GB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BC42A7D-C93B-FD6B-26C8-DD0FDC30C1D7}"/>
                  </a:ext>
                </a:extLst>
              </p:cNvPr>
              <p:cNvSpPr txBox="1"/>
              <p:nvPr/>
            </p:nvSpPr>
            <p:spPr>
              <a:xfrm>
                <a:off x="315596" y="3028277"/>
                <a:ext cx="569287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𝑢𝑛𝑖𝑡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𝑆𝑝𝑎𝑐𝑒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𝐻𝑎𝑛𝑑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BC42A7D-C93B-FD6B-26C8-DD0FDC30C1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596" y="3028277"/>
                <a:ext cx="5692877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Box 24">
            <a:extLst>
              <a:ext uri="{FF2B5EF4-FFF2-40B4-BE49-F238E27FC236}">
                <a16:creationId xmlns:a16="http://schemas.microsoft.com/office/drawing/2014/main" id="{48E82810-4610-26A5-9FD8-DBF2A386F0E2}"/>
              </a:ext>
            </a:extLst>
          </p:cNvPr>
          <p:cNvSpPr txBox="1"/>
          <p:nvPr/>
        </p:nvSpPr>
        <p:spPr>
          <a:xfrm>
            <a:off x="414450" y="3716821"/>
            <a:ext cx="56928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</a:t>
            </a:r>
            <a:r>
              <a:rPr lang="en-GB" b="1" dirty="0"/>
              <a:t>Beta vector </a:t>
            </a:r>
            <a:r>
              <a:rPr lang="en-GB" dirty="0"/>
              <a:t>for a task variable gives the direction for that variable.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9AD70FD-742F-F4B0-0A45-7BD47539ADE3}"/>
              </a:ext>
            </a:extLst>
          </p:cNvPr>
          <p:cNvGrpSpPr/>
          <p:nvPr/>
        </p:nvGrpSpPr>
        <p:grpSpPr>
          <a:xfrm>
            <a:off x="8937385" y="3063015"/>
            <a:ext cx="2185441" cy="1253347"/>
            <a:chOff x="7626459" y="2619632"/>
            <a:chExt cx="2185441" cy="1253347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2AA23EBD-AA2A-415E-0DE0-0645621D4F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6459" y="2804298"/>
              <a:ext cx="442095" cy="1068681"/>
            </a:xfrm>
            <a:prstGeom prst="straightConnector1">
              <a:avLst/>
            </a:prstGeom>
            <a:ln w="66675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E73D9A5-CEDB-9198-C87E-D521A1F5C64E}"/>
                </a:ext>
              </a:extLst>
            </p:cNvPr>
            <p:cNvSpPr txBox="1"/>
            <p:nvPr/>
          </p:nvSpPr>
          <p:spPr>
            <a:xfrm>
              <a:off x="8205370" y="2619632"/>
              <a:ext cx="1606530" cy="369332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GB" dirty="0">
                  <a:solidFill>
                    <a:srgbClr val="60A500"/>
                  </a:solidFill>
                </a:rPr>
                <a:t>TDR Axis: Hand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D84FEF17-901D-26F9-91C4-B146D536D991}"/>
              </a:ext>
            </a:extLst>
          </p:cNvPr>
          <p:cNvSpPr txBox="1"/>
          <p:nvPr/>
        </p:nvSpPr>
        <p:spPr>
          <a:xfrm>
            <a:off x="403122" y="4423242"/>
            <a:ext cx="56928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Löwdin symmetric </a:t>
            </a:r>
            <a:r>
              <a:rPr lang="en-GB" b="1" dirty="0"/>
              <a:t>orthonormalization</a:t>
            </a:r>
            <a:r>
              <a:rPr lang="en-GB" dirty="0"/>
              <a:t> to get independent directions. Minimize distance between raw and output axes.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B1FC119-5B60-B78B-BC1B-26CEEBF1E04E}"/>
              </a:ext>
            </a:extLst>
          </p:cNvPr>
          <p:cNvSpPr txBox="1"/>
          <p:nvPr/>
        </p:nvSpPr>
        <p:spPr>
          <a:xfrm>
            <a:off x="403121" y="5552674"/>
            <a:ext cx="5692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Then we project the trajectories to the TDR axes.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E6A9E5-DFD6-6399-849B-7397D3BE5783}"/>
              </a:ext>
            </a:extLst>
          </p:cNvPr>
          <p:cNvSpPr txBox="1"/>
          <p:nvPr/>
        </p:nvSpPr>
        <p:spPr>
          <a:xfrm>
            <a:off x="8294284" y="6476970"/>
            <a:ext cx="3897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Ref: (9)</a:t>
            </a:r>
          </a:p>
        </p:txBody>
      </p:sp>
    </p:spTree>
    <p:extLst>
      <p:ext uri="{BB962C8B-B14F-4D97-AF65-F5344CB8AC3E}">
        <p14:creationId xmlns:p14="http://schemas.microsoft.com/office/powerpoint/2010/main" val="1616793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2" grpId="0"/>
      <p:bldP spid="24" grpId="0"/>
      <p:bldP spid="25" grpId="0"/>
      <p:bldP spid="11" grpId="0"/>
      <p:bldP spid="13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DDA75C-5E30-28A1-C5D1-92DD3D46A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81656-58FF-7BEF-E5C7-EF0312547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Targeted Dimensionality Reduction: Defining Regressors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31CC2C-F164-C040-D9A6-21B28D1F96C3}"/>
              </a:ext>
            </a:extLst>
          </p:cNvPr>
          <p:cNvSpPr txBox="1"/>
          <p:nvPr/>
        </p:nvSpPr>
        <p:spPr>
          <a:xfrm>
            <a:off x="245075" y="1353498"/>
            <a:ext cx="11411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4 event-related Regressors</a:t>
            </a:r>
            <a:r>
              <a:rPr lang="en-GB" dirty="0"/>
              <a:t>: These capture activity not specific to a condition. Control variable.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F5B033-FD99-DAA5-5189-A402B4166D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4724" y="1826136"/>
            <a:ext cx="6291680" cy="28709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3AB410-C579-FF17-59EE-13204062741D}"/>
              </a:ext>
            </a:extLst>
          </p:cNvPr>
          <p:cNvSpPr txBox="1"/>
          <p:nvPr/>
        </p:nvSpPr>
        <p:spPr>
          <a:xfrm>
            <a:off x="245075" y="1938852"/>
            <a:ext cx="55296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1 Hand Regressor</a:t>
            </a:r>
            <a:r>
              <a:rPr lang="en-GB" dirty="0"/>
              <a:t>: Does activity distinguish </a:t>
            </a:r>
            <a:r>
              <a:rPr lang="en-GB" dirty="0" err="1"/>
              <a:t>ipsi</a:t>
            </a:r>
            <a:r>
              <a:rPr lang="en-GB" dirty="0"/>
              <a:t> vs contra hand?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4C6112-FF73-6133-FE9B-02F9AFE76E05}"/>
              </a:ext>
            </a:extLst>
          </p:cNvPr>
          <p:cNvSpPr txBox="1"/>
          <p:nvPr/>
        </p:nvSpPr>
        <p:spPr>
          <a:xfrm>
            <a:off x="245074" y="2643422"/>
            <a:ext cx="52578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2 Space Regressors</a:t>
            </a:r>
            <a:r>
              <a:rPr lang="en-GB" dirty="0"/>
              <a:t>: Continuous horizontal and vertical directions. Does activity distinguish </a:t>
            </a:r>
            <a:r>
              <a:rPr lang="en-GB" dirty="0" err="1"/>
              <a:t>ipsi</a:t>
            </a:r>
            <a:r>
              <a:rPr lang="en-GB" dirty="0"/>
              <a:t> vs contra targets?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C8909E-75D1-FCA5-79B8-89A0A86C2CB1}"/>
              </a:ext>
            </a:extLst>
          </p:cNvPr>
          <p:cNvSpPr txBox="1"/>
          <p:nvPr/>
        </p:nvSpPr>
        <p:spPr>
          <a:xfrm>
            <a:off x="245074" y="5181336"/>
            <a:ext cx="114114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Temporal Modulation:</a:t>
            </a:r>
            <a:r>
              <a:rPr lang="en-GB" dirty="0"/>
              <a:t> Space variables are made active only during CUE.</a:t>
            </a:r>
          </a:p>
          <a:p>
            <a:r>
              <a:rPr lang="en-GB" dirty="0"/>
              <a:t>	Effector variables are made active during planning and during movement = Double the regressors (</a:t>
            </a:r>
            <a:r>
              <a:rPr lang="en-GB" b="1" dirty="0"/>
              <a:t>12</a:t>
            </a:r>
            <a:r>
              <a:rPr lang="en-GB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1361A-0BFA-78E0-B025-A34D717F1809}"/>
              </a:ext>
            </a:extLst>
          </p:cNvPr>
          <p:cNvSpPr txBox="1"/>
          <p:nvPr/>
        </p:nvSpPr>
        <p:spPr>
          <a:xfrm>
            <a:off x="245074" y="3624991"/>
            <a:ext cx="55296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3 Effectors: </a:t>
            </a:r>
            <a:r>
              <a:rPr lang="en-GB" dirty="0"/>
              <a:t>Saccade, Contralateral Hand, Ipsilateral Hand. Make horizontal or vertical = </a:t>
            </a:r>
            <a:r>
              <a:rPr lang="en-GB" b="1" dirty="0"/>
              <a:t>6</a:t>
            </a:r>
            <a:r>
              <a:rPr lang="en-GB" dirty="0"/>
              <a:t> regressors. Does activity distinguish </a:t>
            </a:r>
            <a:r>
              <a:rPr lang="en-GB" dirty="0" err="1"/>
              <a:t>ipsi</a:t>
            </a:r>
            <a:r>
              <a:rPr lang="en-GB" dirty="0"/>
              <a:t> vs contra targets when using saccades or when using contra hand?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0E8C56-8217-C902-67D0-CCE494115801}"/>
              </a:ext>
            </a:extLst>
          </p:cNvPr>
          <p:cNvSpPr txBox="1"/>
          <p:nvPr/>
        </p:nvSpPr>
        <p:spPr>
          <a:xfrm>
            <a:off x="245074" y="5937159"/>
            <a:ext cx="11411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In total we have </a:t>
            </a:r>
            <a:r>
              <a:rPr lang="en-GB" b="1" dirty="0"/>
              <a:t>19</a:t>
            </a:r>
            <a:r>
              <a:rPr lang="en-GB" dirty="0"/>
              <a:t> regressors.</a:t>
            </a:r>
          </a:p>
        </p:txBody>
      </p:sp>
    </p:spTree>
    <p:extLst>
      <p:ext uri="{BB962C8B-B14F-4D97-AF65-F5344CB8AC3E}">
        <p14:creationId xmlns:p14="http://schemas.microsoft.com/office/powerpoint/2010/main" val="3912123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/>
      <p:bldP spid="6" grpId="0"/>
      <p:bldP spid="8" grpId="0"/>
      <p:bldP spid="9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31BEE-8EDD-DC88-9047-F49FBA744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CE11A-C199-9D5A-4FEE-5489D19B7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Targeted Dimensionality Reduction: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DE968B-8118-83F0-9B17-4A1609F3F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27" y="1072424"/>
            <a:ext cx="12192000" cy="551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889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5768B-6B46-BC11-6C82-52F385BEB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71437-ECF2-5733-F0DA-0032BDE1C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Targeted Dimensionality Reduction: Space encoding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E8DA4FA-7663-4DA1-14C1-67FB6E835D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90"/>
          <a:stretch>
            <a:fillRect/>
          </a:stretch>
        </p:blipFill>
        <p:spPr>
          <a:xfrm>
            <a:off x="6762434" y="1320801"/>
            <a:ext cx="5429566" cy="40854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F8C4922-D75A-173E-74DB-66A9B73964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88294"/>
            <a:ext cx="6982691" cy="42195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2C96BAD-C196-43BC-F15B-9C1FC2F74561}"/>
              </a:ext>
            </a:extLst>
          </p:cNvPr>
          <p:cNvSpPr txBox="1"/>
          <p:nvPr/>
        </p:nvSpPr>
        <p:spPr>
          <a:xfrm>
            <a:off x="245076" y="5738233"/>
            <a:ext cx="11411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u="sng" dirty="0"/>
              <a:t>Contralateral space bias in encoding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606979-7F34-26B0-EA47-33AD83A1B219}"/>
              </a:ext>
            </a:extLst>
          </p:cNvPr>
          <p:cNvSpPr txBox="1"/>
          <p:nvPr/>
        </p:nvSpPr>
        <p:spPr>
          <a:xfrm>
            <a:off x="5674936" y="2964432"/>
            <a:ext cx="1376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Reds</a:t>
            </a:r>
            <a:r>
              <a:rPr lang="en-GB" dirty="0"/>
              <a:t>: Contra</a:t>
            </a:r>
          </a:p>
          <a:p>
            <a:r>
              <a:rPr lang="en-GB" dirty="0">
                <a:solidFill>
                  <a:srgbClr val="0000FF"/>
                </a:solidFill>
              </a:rPr>
              <a:t>Blues</a:t>
            </a:r>
            <a:r>
              <a:rPr lang="en-GB" dirty="0"/>
              <a:t>: Ipsi</a:t>
            </a:r>
          </a:p>
        </p:txBody>
      </p:sp>
    </p:spTree>
    <p:extLst>
      <p:ext uri="{BB962C8B-B14F-4D97-AF65-F5344CB8AC3E}">
        <p14:creationId xmlns:p14="http://schemas.microsoft.com/office/powerpoint/2010/main" val="3455513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BB7DF00-599B-5FDA-7588-09625C89A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5DCAE-495C-39F3-7BB2-DFC86A63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Targeted Dimensionality Reduction: CI axes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AE4E23-99FD-213F-7907-D1E9B94D2C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580"/>
          <a:stretch>
            <a:fillRect/>
          </a:stretch>
        </p:blipFill>
        <p:spPr>
          <a:xfrm>
            <a:off x="245076" y="893446"/>
            <a:ext cx="3337413" cy="2905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D7D8A2-0ADC-12C3-F67C-FF44CE9F9A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896"/>
          <a:stretch>
            <a:fillRect/>
          </a:stretch>
        </p:blipFill>
        <p:spPr>
          <a:xfrm>
            <a:off x="3719649" y="884757"/>
            <a:ext cx="3369566" cy="29465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19764F-4121-0E66-F079-BF508C580A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53"/>
          <a:stretch>
            <a:fillRect/>
          </a:stretch>
        </p:blipFill>
        <p:spPr>
          <a:xfrm>
            <a:off x="245076" y="3818779"/>
            <a:ext cx="3337412" cy="293357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4E49E7-D852-CBF0-E819-B061357D41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107"/>
          <a:stretch>
            <a:fillRect/>
          </a:stretch>
        </p:blipFill>
        <p:spPr>
          <a:xfrm>
            <a:off x="3719649" y="3842848"/>
            <a:ext cx="3359295" cy="29465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5793FE-5794-968E-924D-D14F315E9E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58" t="6873" b="52278"/>
          <a:stretch>
            <a:fillRect/>
          </a:stretch>
        </p:blipFill>
        <p:spPr>
          <a:xfrm>
            <a:off x="7960471" y="2347274"/>
            <a:ext cx="3222862" cy="256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8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CFA15-9F4C-A7CF-FAC6-A350F546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449B0-1EE5-FAF7-E15F-7ACA741F1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Targeted Dimensionality Reduction: Hand encoding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D6A35B8-B44D-FB9B-18AC-A93519B51C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307"/>
          <a:stretch>
            <a:fillRect/>
          </a:stretch>
        </p:blipFill>
        <p:spPr>
          <a:xfrm>
            <a:off x="501430" y="1081603"/>
            <a:ext cx="7643330" cy="538257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14E8D27-B039-1B0D-F9D4-6BE3583F82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958" t="6873" b="52278"/>
          <a:stretch>
            <a:fillRect/>
          </a:stretch>
        </p:blipFill>
        <p:spPr>
          <a:xfrm>
            <a:off x="8467708" y="2491483"/>
            <a:ext cx="3222862" cy="2562813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FFA38FC-951A-29E2-A1BA-0D065AC2A89C}"/>
              </a:ext>
            </a:extLst>
          </p:cNvPr>
          <p:cNvSpPr txBox="1"/>
          <p:nvPr/>
        </p:nvSpPr>
        <p:spPr>
          <a:xfrm>
            <a:off x="8805106" y="1359182"/>
            <a:ext cx="2548065" cy="6463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dirty="0"/>
              <a:t>Contra and Ipsi defined by recorded pulvinar side</a:t>
            </a:r>
          </a:p>
        </p:txBody>
      </p:sp>
    </p:spTree>
    <p:extLst>
      <p:ext uri="{BB962C8B-B14F-4D97-AF65-F5344CB8AC3E}">
        <p14:creationId xmlns:p14="http://schemas.microsoft.com/office/powerpoint/2010/main" val="3992735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184EB-921D-33D3-5417-33DFFE23C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9FD5F-41BA-1342-B4E8-EE7ADADA1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Targeted Dimensionality Reduction: Saccade encoding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84CC70-AD7A-9228-B4EE-CBEB530773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071093"/>
            <a:ext cx="7063272" cy="42682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861F9-3C18-4749-0E6E-6DDF71A080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361"/>
          <a:stretch>
            <a:fillRect/>
          </a:stretch>
        </p:blipFill>
        <p:spPr>
          <a:xfrm>
            <a:off x="7063273" y="1071094"/>
            <a:ext cx="4918808" cy="426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469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E4B6D-F04C-B1F4-3D52-4E98C9436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08EC9-E429-DDAD-8ADF-44EB31AB5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Targeted Dimensionality Reduction: Hand Planning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DEC56EA-79AF-8E12-F9F4-EBD9D5835B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09" r="31063"/>
          <a:stretch>
            <a:fillRect/>
          </a:stretch>
        </p:blipFill>
        <p:spPr>
          <a:xfrm>
            <a:off x="7125438" y="1272619"/>
            <a:ext cx="5066562" cy="43221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347A83-6836-87B0-11E4-63D4923178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01" y="1272619"/>
            <a:ext cx="7153040" cy="422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849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BC457-7F2D-8E40-74BA-CB34047D2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26F7-30FA-639F-93C6-296705BE8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Targeted Dimensionality Reduction: Hand Movement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70A73E-DBDC-73BA-A354-0FF00E0229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6203"/>
            <a:ext cx="7361653" cy="4321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D74D641-C1D5-F4FB-62C2-3AF4A8A1A3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78"/>
          <a:stretch>
            <a:fillRect/>
          </a:stretch>
        </p:blipFill>
        <p:spPr>
          <a:xfrm>
            <a:off x="7218924" y="1371999"/>
            <a:ext cx="4973076" cy="432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18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527BA-DBA2-868E-027F-CDF8E4909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A909D-9BA9-DA76-6E7B-D5771B4DB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Discussion and Future Directions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75736A-2879-1890-533B-889B7F1B210D}"/>
              </a:ext>
            </a:extLst>
          </p:cNvPr>
          <p:cNvSpPr txBox="1"/>
          <p:nvPr/>
        </p:nvSpPr>
        <p:spPr>
          <a:xfrm>
            <a:off x="233749" y="3601662"/>
            <a:ext cx="115881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Future directions</a:t>
            </a:r>
            <a:r>
              <a:rPr lang="en-GB" dirty="0"/>
              <a:t>:</a:t>
            </a:r>
          </a:p>
          <a:p>
            <a:pPr marL="342900" indent="-342900">
              <a:buAutoNum type="arabicPeriod"/>
            </a:pPr>
            <a:r>
              <a:rPr lang="en-GB" dirty="0"/>
              <a:t>Implementing the state-space analysis in Parietal and Frontal motor regions. We already have recordings.</a:t>
            </a:r>
          </a:p>
          <a:p>
            <a:pPr lvl="1"/>
            <a:r>
              <a:rPr lang="en-GB" dirty="0"/>
              <a:t>	Communication Subspace (10)</a:t>
            </a:r>
          </a:p>
          <a:p>
            <a:pPr marL="342900" indent="-342900">
              <a:buAutoNum type="arabicPeriod"/>
            </a:pPr>
            <a:endParaRPr lang="en-GB" dirty="0"/>
          </a:p>
          <a:p>
            <a:pPr marL="342900" indent="-342900">
              <a:buAutoNum type="arabicPeriod"/>
            </a:pPr>
            <a:r>
              <a:rPr lang="en-GB" dirty="0"/>
              <a:t>Causal studies, inactivating the dorsal pulvinar, and connecting regions (11)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4B7FF9-6F6D-59CA-7E67-5E7B0A2D72DC}"/>
              </a:ext>
            </a:extLst>
          </p:cNvPr>
          <p:cNvSpPr txBox="1"/>
          <p:nvPr/>
        </p:nvSpPr>
        <p:spPr>
          <a:xfrm>
            <a:off x="233749" y="1647036"/>
            <a:ext cx="1172450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/>
              <a:t>Problems</a:t>
            </a:r>
            <a:r>
              <a:rPr lang="en-GB" dirty="0"/>
              <a:t>:</a:t>
            </a:r>
          </a:p>
          <a:p>
            <a:pPr marL="342900" indent="-342900">
              <a:buAutoNum type="arabicPeriod"/>
            </a:pPr>
            <a:r>
              <a:rPr lang="en-GB" dirty="0"/>
              <a:t>This still need statistics, quantification</a:t>
            </a:r>
          </a:p>
          <a:p>
            <a:pPr marL="342900" indent="-342900">
              <a:buAutoNum type="arabicPeriod"/>
            </a:pPr>
            <a:r>
              <a:rPr lang="en-GB" dirty="0"/>
              <a:t>Generalizes for two monkeys, need more</a:t>
            </a:r>
          </a:p>
          <a:p>
            <a:pPr marL="342900" indent="-342900">
              <a:buAutoNum type="arabicPeriod"/>
            </a:pPr>
            <a:r>
              <a:rPr lang="en-GB" dirty="0"/>
              <a:t>No causal information, so hard to say concretely about function</a:t>
            </a:r>
          </a:p>
          <a:p>
            <a:pPr marL="342900" indent="-342900">
              <a:buAutoNum type="arabicPeriod"/>
            </a:pPr>
            <a:r>
              <a:rPr lang="en-GB" dirty="0"/>
              <a:t>Like GLM in fMRI, TDR interpretation depends heavily on the way we define the regressors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C00934-A2C3-3194-1983-1C996CADB01F}"/>
                  </a:ext>
                </a:extLst>
              </p:cNvPr>
              <p:cNvSpPr txBox="1"/>
              <p:nvPr/>
            </p:nvSpPr>
            <p:spPr>
              <a:xfrm>
                <a:off x="3808841" y="4264911"/>
                <a:ext cx="801304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𝑟𝑎𝑡𝑒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𝑎𝑟𝑒𝑎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 1 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𝑢𝑛𝑖𝑡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𝑟𝑎𝑡𝑒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𝑎𝑟𝑒𝑎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𝑢𝑛𝑖𝑡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0C00934-A2C3-3194-1983-1C996CADB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8841" y="4264911"/>
                <a:ext cx="8013045" cy="369332"/>
              </a:xfrm>
              <a:prstGeom prst="rect">
                <a:avLst/>
              </a:prstGeom>
              <a:blipFill>
                <a:blip r:embed="rId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6713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 build="allAtOnce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AEE65-273A-AEB4-C741-60FF86517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BEFB0-64A7-28C5-9085-E1FAD48E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749" y="193918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Thank you and Questions!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0F06DAB-80EB-0AC9-3325-6608DE11D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9810" y="706823"/>
            <a:ext cx="6783263" cy="303178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CBCEF5B-F5B3-0C68-C529-104762806C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62" y="2569941"/>
            <a:ext cx="3594052" cy="17181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7858C43-FF51-480A-2495-327343D42A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130" t="21344"/>
          <a:stretch>
            <a:fillRect/>
          </a:stretch>
        </p:blipFill>
        <p:spPr>
          <a:xfrm>
            <a:off x="5073609" y="3970127"/>
            <a:ext cx="2731080" cy="2693955"/>
          </a:xfrm>
          <a:prstGeom prst="rect">
            <a:avLst/>
          </a:prstGeom>
        </p:spPr>
      </p:pic>
      <p:pic>
        <p:nvPicPr>
          <p:cNvPr id="2050" name="Picture 2" descr="Benjamin Dann (@dann_benjamin) / Posts / X">
            <a:extLst>
              <a:ext uri="{FF2B5EF4-FFF2-40B4-BE49-F238E27FC236}">
                <a16:creationId xmlns:a16="http://schemas.microsoft.com/office/drawing/2014/main" id="{0E965A17-480F-46FA-25D8-501D152BB0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884" y="3970127"/>
            <a:ext cx="2642119" cy="2642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30E2B8D-9A8B-1F80-BD5A-BB64A396310A}"/>
              </a:ext>
            </a:extLst>
          </p:cNvPr>
          <p:cNvSpPr txBox="1"/>
          <p:nvPr/>
        </p:nvSpPr>
        <p:spPr>
          <a:xfrm>
            <a:off x="226098" y="4339714"/>
            <a:ext cx="45584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Dr. Igor Kagan</a:t>
            </a:r>
          </a:p>
          <a:p>
            <a:pPr algn="ctr"/>
            <a:r>
              <a:rPr lang="en-GB" dirty="0"/>
              <a:t>Dr. Lukas Schneider</a:t>
            </a:r>
          </a:p>
          <a:p>
            <a:pPr algn="ctr"/>
            <a:r>
              <a:rPr lang="en-GB" dirty="0"/>
              <a:t>Dr. Benjamin Dann</a:t>
            </a:r>
          </a:p>
        </p:txBody>
      </p:sp>
    </p:spTree>
    <p:extLst>
      <p:ext uri="{BB962C8B-B14F-4D97-AF65-F5344CB8AC3E}">
        <p14:creationId xmlns:p14="http://schemas.microsoft.com/office/powerpoint/2010/main" val="36352535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03FD7-2384-5C6B-2F0C-CC84E6CC2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5D1B8-F5A1-8913-33D8-73D323220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076" y="274510"/>
            <a:ext cx="11724502" cy="598702"/>
          </a:xfrm>
        </p:spPr>
        <p:txBody>
          <a:bodyPr>
            <a:normAutofit/>
          </a:bodyPr>
          <a:lstStyle/>
          <a:p>
            <a:r>
              <a:rPr lang="en-GB" sz="3200" b="1" dirty="0"/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C664DD-CED4-625B-0A5F-EB3B47AE300D}"/>
              </a:ext>
            </a:extLst>
          </p:cNvPr>
          <p:cNvSpPr txBox="1"/>
          <p:nvPr/>
        </p:nvSpPr>
        <p:spPr>
          <a:xfrm>
            <a:off x="222422" y="930238"/>
            <a:ext cx="1172450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sz="1600" dirty="0"/>
              <a:t>Goodale, M. A., &amp; Milner, A. (1992). Separate visual pathways for perception and action. Trends in Neurosciences, 15(1), 20-25.</a:t>
            </a:r>
          </a:p>
          <a:p>
            <a:pPr marL="342900" indent="-342900">
              <a:buAutoNum type="arabicPeriod"/>
            </a:pPr>
            <a:r>
              <a:rPr lang="en-GB" sz="1600" dirty="0"/>
              <a:t>Cisek, P., &amp; </a:t>
            </a:r>
            <a:r>
              <a:rPr lang="en-GB" sz="1600" dirty="0" err="1"/>
              <a:t>Kalaska</a:t>
            </a:r>
            <a:r>
              <a:rPr lang="en-GB" sz="1600" dirty="0"/>
              <a:t>, J. F. (2010). Neural mechanisms for interacting with a world full of action choices. Annual review of neuroscience, 33, 269-98.</a:t>
            </a:r>
          </a:p>
          <a:p>
            <a:pPr marL="342900" indent="-342900">
              <a:buAutoNum type="arabicPeriod"/>
            </a:pPr>
            <a:r>
              <a:rPr lang="en-GB" sz="1600" dirty="0"/>
              <a:t>Wilke, Melanie &amp; Kagan, Igor. (2023). Visuospatial and Motor Deficits Following Pulvinar Lesions. 10.1093/med/9780197676158.003.0071. </a:t>
            </a:r>
          </a:p>
          <a:p>
            <a:pPr marL="342900" indent="-342900">
              <a:buAutoNum type="arabicPeriod"/>
            </a:pPr>
            <a:r>
              <a:rPr lang="en-GB" sz="1600" dirty="0" err="1"/>
              <a:t>Shadlen</a:t>
            </a:r>
            <a:r>
              <a:rPr lang="en-GB" sz="1600" dirty="0"/>
              <a:t>, M. N., &amp; Newsome, W. T. (1998). The variable discharge of cortical neurons: implications for connectivity, computation, and information coding. The Journal of neuroscience : the official journal of the Society for Neuroscience, 18(10), 3870–3896. </a:t>
            </a:r>
            <a:r>
              <a:rPr lang="en-GB" sz="1600" dirty="0">
                <a:hlinkClick r:id="rId2"/>
              </a:rPr>
              <a:t>https://doi.org/10.1523/JNEUROSCI.18-10-03870.1998</a:t>
            </a:r>
            <a:endParaRPr lang="en-GB" sz="1600" dirty="0"/>
          </a:p>
          <a:p>
            <a:pPr marL="342900" indent="-342900">
              <a:buAutoNum type="arabicPeriod"/>
            </a:pPr>
            <a:r>
              <a:rPr lang="en-GB" sz="1600" dirty="0"/>
              <a:t>Fusi, S., Miller, E. K., &amp; Rigotti, M. (2016). Why neurons mix: high dimensionality for higher cognition. Current Opinion in Neurobiology, 37, 66-74.</a:t>
            </a:r>
          </a:p>
          <a:p>
            <a:pPr marL="342900" indent="-342900">
              <a:buAutoNum type="arabicPeriod"/>
            </a:pPr>
            <a:r>
              <a:rPr lang="en-GB" sz="1600" dirty="0"/>
              <a:t>Tye, K. M., Miller, E. K., </a:t>
            </a:r>
            <a:r>
              <a:rPr lang="en-GB" sz="1600" dirty="0" err="1"/>
              <a:t>Taschbach</a:t>
            </a:r>
            <a:r>
              <a:rPr lang="en-GB" sz="1600" dirty="0"/>
              <a:t>, F. H., Benna, M. K., Rigotti, M., &amp; Fusi, S. (2024). Mixed selectivity: Cellular computations for complexity. Neuron, 112(14), 2289-2303.</a:t>
            </a:r>
          </a:p>
          <a:p>
            <a:pPr marL="342900" indent="-342900">
              <a:buAutoNum type="arabicPeriod"/>
            </a:pPr>
            <a:r>
              <a:rPr lang="en-GB" sz="1600" dirty="0"/>
              <a:t>Rigotti, M., Barak, O., Warden, M. R., Wang, X.-J., Daw, N. D., Miller, E. K., &amp; Fusi, S. (2013, May 01). The importance of mixed selectivity in complex cognitive tasks. Nature, 497(7451), 585-590.</a:t>
            </a:r>
          </a:p>
          <a:p>
            <a:pPr marL="342900" indent="-342900">
              <a:buAutoNum type="arabicPeriod"/>
            </a:pPr>
            <a:r>
              <a:rPr lang="en-GB" sz="1600" dirty="0"/>
              <a:t>King, J.-R., &amp; Dehaene, S. (2014). Characterizing the dynamics of mental </a:t>
            </a:r>
            <a:r>
              <a:rPr lang="en-GB" sz="1600" dirty="0" err="1"/>
              <a:t>represen</a:t>
            </a:r>
            <a:r>
              <a:rPr lang="en-GB" sz="1600" dirty="0"/>
              <a:t> </a:t>
            </a:r>
            <a:r>
              <a:rPr lang="en-GB" sz="1600" dirty="0" err="1"/>
              <a:t>tations</a:t>
            </a:r>
            <a:r>
              <a:rPr lang="en-GB" sz="1600" dirty="0"/>
              <a:t>: the temporal generalization method. Trends in Cognitive Sciences, 18(4), 203-210.</a:t>
            </a:r>
          </a:p>
          <a:p>
            <a:pPr marL="342900" indent="-342900">
              <a:buAutoNum type="arabicPeriod"/>
            </a:pPr>
            <a:r>
              <a:rPr lang="en-GB" sz="1600" dirty="0"/>
              <a:t>Mante, V., </a:t>
            </a:r>
            <a:r>
              <a:rPr lang="en-GB" sz="1600" dirty="0" err="1"/>
              <a:t>Sussillo</a:t>
            </a:r>
            <a:r>
              <a:rPr lang="en-GB" sz="1600" dirty="0"/>
              <a:t>, D., Shenoy, K. V., &amp; Newsome, W. T. (2013, Nov 01). Context dependent computation by recurrent dynamics in prefrontal cortex. Nature, 503(7474), 78-84.</a:t>
            </a:r>
          </a:p>
          <a:p>
            <a:pPr marL="342900" indent="-342900">
              <a:buAutoNum type="arabicPeriod"/>
            </a:pPr>
            <a:r>
              <a:rPr lang="en-GB" sz="1600" dirty="0"/>
              <a:t>Semedo, J. D., </a:t>
            </a:r>
            <a:r>
              <a:rPr lang="en-GB" sz="1600" dirty="0" err="1"/>
              <a:t>Zandvakili</a:t>
            </a:r>
            <a:r>
              <a:rPr lang="en-GB" sz="1600" dirty="0"/>
              <a:t>, A., Machens, C. K., Yu, B. M., &amp; Kohn, A. (2019). Cor tical areas interact through a communication subspace. Neuron, 102(1), 249 259.e4.</a:t>
            </a:r>
          </a:p>
          <a:p>
            <a:pPr marL="342900" indent="-342900">
              <a:buAutoNum type="arabicPeriod"/>
            </a:pPr>
            <a:r>
              <a:rPr lang="en-GB" sz="1600" dirty="0"/>
              <a:t>Kaduk, K., Wilke, M. &amp; Kagan, I. Dorsal pulvinar inactivation leads to spatial selection bias without perceptual deficit. Sci Rep 14, 12852 (2024). https://doi.org/10.1038/s41598-024-62056-5</a:t>
            </a:r>
          </a:p>
        </p:txBody>
      </p:sp>
    </p:spTree>
    <p:extLst>
      <p:ext uri="{BB962C8B-B14F-4D97-AF65-F5344CB8AC3E}">
        <p14:creationId xmlns:p14="http://schemas.microsoft.com/office/powerpoint/2010/main" val="281974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2816</TotalTime>
  <Words>2717</Words>
  <Application>Microsoft Office PowerPoint</Application>
  <PresentationFormat>Widescreen</PresentationFormat>
  <Paragraphs>218</Paragraphs>
  <Slides>20</Slides>
  <Notes>19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Dorsal Pulvinar Contributions to Reaches and Saccades</vt:lpstr>
      <vt:lpstr>Sensorimotor Transformation</vt:lpstr>
      <vt:lpstr>Brain regions for Saccades and Hand Reaches</vt:lpstr>
      <vt:lpstr>Situating the Pulvinar: Subdivisions and connectivity</vt:lpstr>
      <vt:lpstr>Experimental Setup</vt:lpstr>
      <vt:lpstr>Basic preprocessing steps</vt:lpstr>
      <vt:lpstr>Mixed Selectivity</vt:lpstr>
      <vt:lpstr>Time-resolved Decoding</vt:lpstr>
      <vt:lpstr>Targeted Dimensionality Reduction (TDR) </vt:lpstr>
      <vt:lpstr>Targeted Dimensionality Reduction: Defining Regressors </vt:lpstr>
      <vt:lpstr>Targeted Dimensionality Reduction: Results</vt:lpstr>
      <vt:lpstr>Targeted Dimensionality Reduction: Space encoding</vt:lpstr>
      <vt:lpstr>Targeted Dimensionality Reduction: CI axes</vt:lpstr>
      <vt:lpstr>Targeted Dimensionality Reduction: Hand encoding</vt:lpstr>
      <vt:lpstr>Targeted Dimensionality Reduction: Saccade encoding</vt:lpstr>
      <vt:lpstr>Targeted Dimensionality Reduction: Hand Planning</vt:lpstr>
      <vt:lpstr>Targeted Dimensionality Reduction: Hand Movement</vt:lpstr>
      <vt:lpstr>Discussion and Future Directions</vt:lpstr>
      <vt:lpstr>Thank you and Questions!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Yadav</dc:creator>
  <cp:lastModifiedBy>Nikhil Yadav</cp:lastModifiedBy>
  <cp:revision>237</cp:revision>
  <dcterms:created xsi:type="dcterms:W3CDTF">2026-06-28T08:10:47Z</dcterms:created>
  <dcterms:modified xsi:type="dcterms:W3CDTF">2026-06-30T07:07:29Z</dcterms:modified>
</cp:coreProperties>
</file>